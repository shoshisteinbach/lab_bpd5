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שאלת המחקר: לפי העקומות הקיימות יותר מדי עוברים מסומנים כחריגים. בשבוע הראשון נתנו ל-AI לחשב את האחוזונים של BPD לפי גיל ההריון, כדי להשוות בהמשך הקורס לניתוח מבוקר יותר.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בנוסף: ה-AI הוסיף על דעת עצמו השוואה לעקומת Hadlock. ביקשנו לא לעשות מה שלא התבקש, וההשוואה הוסרה.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כלל 1: הסרת ערכים מחוץ לטווח 10-120 מ"מ (1,133 ערכים). כלל 2: הסרת ערכים שרחוקים מהחציון של השבוע ביותר מ-5 סטיות תקן חסינות (65 ערכים).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אין כאן שום הנחה על צורת ההתפלגות: כל אחוזון נלקח ישירות מהבדיקות של אותו שבוע. החישוב נעשה בפונקציה quantile של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בתחום האפור (בין אחוזון 10 לאחוזון 95) העובר אינו מסומן כחריג. האחוזונים כמעט תמיד מספרים שלמים, כי המדידות נרשמו במ"מ שלמים.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המטרה בשבוע הזה הייתה לראות את התוצאה של עבודה מהירה עם AI. בהמשך הקורס נשווה לניתוח מבוקר יותר.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lang="he-IL">
                <a:solidFill>
                  <a:srgbClr val="CADCFC"/>
                </a:solidFill>
                <a:latin typeface="Arial"/>
                <a:cs typeface="Arial"/>
              </a:rPr>
              <a:t>מעבדה בסטטיסטיקה  |  שבוע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4400" b="1" lang="he-IL">
                <a:solidFill>
                  <a:srgbClr val="FFFFFF"/>
                </a:solidFill>
                <a:latin typeface="Arial"/>
                <a:cs typeface="Arial"/>
              </a:rPr>
              <a:t>עקומות גדילה לקוטר ראש העובר (BPD)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0" lang="he-IL">
                <a:solidFill>
                  <a:srgbClr val="FFFFFF"/>
                </a:solidFill>
                <a:latin typeface="Arial"/>
                <a:cs typeface="Arial"/>
              </a:rPr>
              <a:t>חישוב אחוזונים מהיר בעזרת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2752" y="37947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4000" b="1" lang="he-IL">
                <a:solidFill>
                  <a:srgbClr val="FFFFFF"/>
                </a:solidFill>
                <a:latin typeface="Arial"/>
                <a:cs typeface="Arial"/>
              </a:rPr>
              <a:t>61,997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752" y="45262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he-IL">
                <a:solidFill>
                  <a:srgbClr val="CADCFC"/>
                </a:solidFill>
                <a:latin typeface="Arial"/>
                <a:cs typeface="Arial"/>
              </a:rPr>
              <a:t>בדיקות אולטרסאונד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2312" y="37947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4000" b="1" lang="he-IL">
                <a:solidFill>
                  <a:srgbClr val="FFFFFF"/>
                </a:solidFill>
                <a:latin typeface="Arial"/>
                <a:cs typeface="Arial"/>
              </a:rPr>
              <a:t>14 עד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2312" y="45262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he-IL">
                <a:solidFill>
                  <a:srgbClr val="CADCFC"/>
                </a:solidFill>
                <a:latin typeface="Arial"/>
                <a:cs typeface="Arial"/>
              </a:rPr>
              <a:t>שבועות הריון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1" y="37947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4000" b="1" lang="he-IL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1" y="45262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he-IL">
                <a:solidFill>
                  <a:srgbClr val="CADCFC"/>
                </a:solidFill>
                <a:latin typeface="Arial"/>
                <a:cs typeface="Arial"/>
              </a:rPr>
              <a:t>אחוזונים: 3, 5, 10, 95, 97.5</a:t>
            </a:r>
          </a:p>
        </p:txBody>
      </p:sp>
      <p:sp>
        <p:nvSpPr>
          <p:cNvPr id="11" name="Names box"/>
          <p:cNvSpPr/>
          <p:nvPr/>
        </p:nvSpPr>
        <p:spPr>
          <a:xfrm>
            <a:off x="822960" y="5486400"/>
            <a:ext cx="10543032" cy="685800"/>
          </a:xfrm>
          <a:prstGeom prst="roundRect">
            <a:avLst>
              <a:gd name="adj" fmla="val 6000"/>
            </a:avLst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ames"/>
          <p:cNvSpPr txBox="1"/>
          <p:nvPr/>
        </p:nvSpPr>
        <p:spPr>
          <a:xfrm>
            <a:off x="1097280" y="5486400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lang="he-IL">
                <a:solidFill>
                  <a:srgbClr val="FFFFFF"/>
                </a:solidFill>
                <a:latin typeface="Arial"/>
                <a:cs typeface="Arial"/>
              </a:rPr>
              <a:t>מגישים/ות:  _______________________________________________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lang="he-IL">
                <a:solidFill>
                  <a:srgbClr val="1F3864"/>
                </a:solidFill>
                <a:latin typeface="Arial"/>
                <a:cs typeface="Arial"/>
              </a:rPr>
              <a:t>הכלי והפרומפט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he-IL">
                <a:solidFill>
                  <a:srgbClr val="52514E"/>
                </a:solidFill>
                <a:latin typeface="Arial"/>
                <a:cs typeface="Arial"/>
              </a:rPr>
              <a:t>עבדנו עם ה-AI בשיחה, שלב אחרי שלב, ואישרנו כל שלב לפני המעבר לבא</a:t>
            </a:r>
          </a:p>
        </p:txBody>
      </p:sp>
      <p:sp>
        <p:nvSpPr>
          <p:cNvPr id="4" name="Tool card"/>
          <p:cNvSpPr/>
          <p:nvPr/>
        </p:nvSpPr>
        <p:spPr>
          <a:xfrm>
            <a:off x="7616952" y="1691640"/>
            <a:ext cx="4023360" cy="4343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36992" y="1920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lang="he-IL">
                <a:solidFill>
                  <a:srgbClr val="CADCFC"/>
                </a:solidFill>
                <a:latin typeface="Arial"/>
                <a:cs typeface="Arial"/>
              </a:rPr>
              <a:t>כלי ה-AI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36992" y="22860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lang="he-IL">
                <a:solidFill>
                  <a:srgbClr val="FFFFFF"/>
                </a:solidFill>
                <a:latin typeface="Arial"/>
                <a:cs typeface="Arial"/>
              </a:rP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6992" y="28803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he-IL">
                <a:solidFill>
                  <a:srgbClr val="FFFFFF"/>
                </a:solidFill>
                <a:latin typeface="Arial"/>
                <a:cs typeface="Arial"/>
              </a:rPr>
              <a:t>מודל Claude Opus 5.5</a:t>
            </a:r>
          </a:p>
          <a:p>
            <a:pPr algn="r" rtl="1">
              <a:spcAft>
                <a:spcPts val="600"/>
              </a:spcAft>
            </a:pPr>
            <a:r>
              <a:rPr sz="1500" b="0" lang="he-IL">
                <a:solidFill>
                  <a:srgbClr val="FFFFFF"/>
                </a:solidFill>
                <a:latin typeface="Arial"/>
                <a:cs typeface="Arial"/>
              </a:rPr>
              <a:t>הקוד נכתב והורץ ב-R</a:t>
            </a:r>
          </a:p>
          <a:p>
            <a:pPr algn="r" rtl="1">
              <a:spcAft>
                <a:spcPts val="600"/>
              </a:spcAft>
            </a:pPr>
            <a:r>
              <a:rPr sz="1500" b="0" lang="he-IL">
                <a:solidFill>
                  <a:srgbClr val="FFFFFF"/>
                </a:solidFill>
                <a:latin typeface="Arial"/>
                <a:cs typeface="Arial"/>
              </a:rPr>
              <a:t>נתונים: גיל הריון ו-BPD בלבד</a:t>
            </a:r>
          </a:p>
        </p:txBody>
      </p:sp>
      <p:sp>
        <p:nvSpPr>
          <p:cNvPr id="8" name="Prompt quote"/>
          <p:cNvSpPr/>
          <p:nvPr/>
        </p:nvSpPr>
        <p:spPr>
          <a:xfrm>
            <a:off x="7845552" y="44348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434840"/>
            <a:ext cx="316382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lang="he-IL">
                <a:solidFill>
                  <a:srgbClr val="FFFFFF"/>
                </a:solidFill>
                <a:latin typeface="Arial"/>
                <a:cs typeface="Arial"/>
              </a:rPr>
              <a:t>"קרא את כל הקבצים, בנה תוכנית מורכבת מכמה שלבים, שאל אותי במקום לנחש, ואל תתחיל עד שאאשר"</a:t>
            </a:r>
          </a:p>
        </p:txBody>
      </p:sp>
      <p:sp>
        <p:nvSpPr>
          <p:cNvPr id="10" name="Oval 9"/>
          <p:cNvSpPr/>
          <p:nvPr/>
        </p:nvSpPr>
        <p:spPr>
          <a:xfrm>
            <a:off x="6766560" y="178308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הפרומפט הראשון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lang="he-IL">
                <a:solidFill>
                  <a:srgbClr val="52514E"/>
                </a:solidFill>
                <a:latin typeface="Arial"/>
                <a:cs typeface="Arial"/>
              </a:rPr>
              <a:t>הדבקנו את הנחיות המטלה וביקשנו תוכנית עבודה ושאלות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5146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בחירת מדד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lang="he-IL">
                <a:solidFill>
                  <a:srgbClr val="52514E"/>
                </a:solidFill>
                <a:latin typeface="Arial"/>
                <a:cs typeface="Arial"/>
              </a:rPr>
              <a:t>BPD, ובדיקה שהתוכנית מתאימה ל-8 שלבי הקורס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24612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אופן העבודה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204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lang="he-IL">
                <a:solidFill>
                  <a:srgbClr val="52514E"/>
                </a:solidFill>
                <a:latin typeface="Arial"/>
                <a:cs typeface="Arial"/>
              </a:rPr>
              <a:t>קוד R לכל שלב, הצגת ממצאים והמתנה לאישור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39776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ניקוי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lang="he-IL">
                <a:solidFill>
                  <a:srgbClr val="52514E"/>
                </a:solidFill>
                <a:latin typeface="Arial"/>
                <a:cs typeface="Arial"/>
              </a:rPr>
              <a:t>הסרת שגיאות רישום, ושמירה גם של הנתונים הגולמיים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470915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חישוב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83479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lang="he-IL">
                <a:solidFill>
                  <a:srgbClr val="52514E"/>
                </a:solidFill>
                <a:latin typeface="Arial"/>
                <a:cs typeface="Arial"/>
              </a:rPr>
              <a:t>אחוזונים אמפיריים לכל שבוע, 14 עד 42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544068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הצגה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150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lang="he-IL">
                <a:solidFill>
                  <a:srgbClr val="52514E"/>
                </a:solidFill>
                <a:latin typeface="Arial"/>
                <a:cs typeface="Arial"/>
              </a:rPr>
              <a:t>גרפים מעוצבים, מסמך סיכום ומצגת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lang="he-IL">
                <a:solidFill>
                  <a:srgbClr val="1F3864"/>
                </a:solidFill>
                <a:latin typeface="Arial"/>
                <a:cs typeface="Arial"/>
              </a:rPr>
              <a:t>הנתונים: שגיאות רישום שחייבים לנקות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he-IL">
                <a:solidFill>
                  <a:srgbClr val="52514E"/>
                </a:solidFill>
                <a:latin typeface="Arial"/>
                <a:cs typeface="Arial"/>
              </a:rPr>
              <a:t>בסקאלה לוגריתמית רואים שלושה "פסים" במקום אחד</a:t>
            </a:r>
          </a:p>
        </p:txBody>
      </p:sp>
      <p:sp>
        <p:nvSpPr>
          <p:cNvPr id="4" name="Callout 1"/>
          <p:cNvSpPr/>
          <p:nvPr/>
        </p:nvSpPr>
        <p:spPr>
          <a:xfrm>
            <a:off x="8348472" y="1691640"/>
            <a:ext cx="3291840" cy="13258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7072" y="1801368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lang="he-IL">
                <a:solidFill>
                  <a:srgbClr val="EB6834"/>
                </a:solidFill>
                <a:latin typeface="Arial"/>
                <a:cs typeface="Arial"/>
              </a:rPr>
              <a:t>1.4%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7072" y="23774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 lang="he-IL">
                <a:solidFill>
                  <a:srgbClr val="1F1F1F"/>
                </a:solidFill>
                <a:latin typeface="Arial"/>
                <a:cs typeface="Arial"/>
              </a:rPr>
              <a:t>נרשמו בס"מ במקום במ"מ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7072" y="26609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 lang="he-IL">
                <a:solidFill>
                  <a:srgbClr val="52514E"/>
                </a:solidFill>
                <a:latin typeface="Arial"/>
                <a:cs typeface="Arial"/>
              </a:rPr>
              <a:t>889 ערכים, למשל 8.5 במקום 85</a:t>
            </a:r>
          </a:p>
        </p:txBody>
      </p:sp>
      <p:sp>
        <p:nvSpPr>
          <p:cNvPr id="8" name="Callout 2"/>
          <p:cNvSpPr/>
          <p:nvPr/>
        </p:nvSpPr>
        <p:spPr>
          <a:xfrm>
            <a:off x="8348472" y="3200400"/>
            <a:ext cx="3291840" cy="13258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3310128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lang="he-IL">
                <a:solidFill>
                  <a:srgbClr val="2A78D6"/>
                </a:solidFill>
                <a:latin typeface="Arial"/>
                <a:cs typeface="Arial"/>
              </a:rPr>
              <a:t>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38862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 lang="he-IL">
                <a:solidFill>
                  <a:srgbClr val="1F1F1F"/>
                </a:solidFill>
                <a:latin typeface="Arial"/>
                <a:cs typeface="Arial"/>
              </a:rPr>
              <a:t>ספרה מיותרת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416966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 lang="he-IL">
                <a:solidFill>
                  <a:srgbClr val="52514E"/>
                </a:solidFill>
                <a:latin typeface="Arial"/>
                <a:cs typeface="Arial"/>
              </a:rPr>
              <a:t>244 ערכים, למשל 892 במקום 89.2</a:t>
            </a:r>
          </a:p>
        </p:txBody>
      </p:sp>
      <p:sp>
        <p:nvSpPr>
          <p:cNvPr id="12" name="Callout 3"/>
          <p:cNvSpPr/>
          <p:nvPr/>
        </p:nvSpPr>
        <p:spPr>
          <a:xfrm>
            <a:off x="8348472" y="4709160"/>
            <a:ext cx="3291840" cy="13258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4818888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lang="he-IL">
                <a:solidFill>
                  <a:srgbClr val="1F3864"/>
                </a:solidFill>
                <a:latin typeface="Arial"/>
                <a:cs typeface="Arial"/>
              </a:rPr>
              <a:t>98.1%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53949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 lang="he-IL">
                <a:solidFill>
                  <a:srgbClr val="1F1F1F"/>
                </a:solidFill>
                <a:latin typeface="Arial"/>
                <a:cs typeface="Arial"/>
              </a:rPr>
              <a:t>נשארו אחרי הניקוי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567842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 lang="he-IL">
                <a:solidFill>
                  <a:srgbClr val="52514E"/>
                </a:solidFill>
                <a:latin typeface="Arial"/>
                <a:cs typeface="Arial"/>
              </a:rPr>
              <a:t>60,799 בדיקות</a:t>
            </a:r>
          </a:p>
        </p:txBody>
      </p:sp>
      <p:pic>
        <p:nvPicPr>
          <p:cNvPr id="16" name="Picture 15" descr="04_raw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680960" cy="41896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5897880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 lang="he-IL">
                <a:solidFill>
                  <a:srgbClr val="52514E"/>
                </a:solidFill>
                <a:latin typeface="Arial"/>
                <a:cs typeface="Arial"/>
              </a:rPr>
              <a:t>בלי ניקוי, אחוזון 3 יוצא נמוך ב-1 עד 3 מ"מ, כי רוב השגיאות הן ערכים נמוכים מדי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lang="he-IL">
                <a:solidFill>
                  <a:srgbClr val="1F3864"/>
                </a:solidFill>
                <a:latin typeface="Arial"/>
                <a:cs typeface="Arial"/>
              </a:rPr>
              <a:t>איך ה-AI חישב את העקומות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he-IL">
                <a:solidFill>
                  <a:srgbClr val="52514E"/>
                </a:solidFill>
                <a:latin typeface="Arial"/>
                <a:cs typeface="Arial"/>
              </a:rPr>
              <a:t>אחוזונים אמפיריים: ישירות מהנתונים הנקיים, לכל שבוע בנפרד</a:t>
            </a:r>
          </a:p>
        </p:txBody>
      </p:sp>
      <p:sp>
        <p:nvSpPr>
          <p:cNvPr id="4" name="Method card"/>
          <p:cNvSpPr/>
          <p:nvPr/>
        </p:nvSpPr>
        <p:spPr>
          <a:xfrm>
            <a:off x="6245352" y="169164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08792" y="196596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9672" y="1947672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he-IL">
                <a:solidFill>
                  <a:srgbClr val="1F1F1F"/>
                </a:solidFill>
                <a:latin typeface="Arial"/>
                <a:cs typeface="Arial"/>
              </a:rPr>
              <a:t>לוקחים את כל הבדיקות של שבוע מסוים, למשל כל הבדיקות בשבוע 20</a:t>
            </a:r>
          </a:p>
        </p:txBody>
      </p:sp>
      <p:sp>
        <p:nvSpPr>
          <p:cNvPr id="7" name="Oval 6"/>
          <p:cNvSpPr/>
          <p:nvPr/>
        </p:nvSpPr>
        <p:spPr>
          <a:xfrm>
            <a:off x="10908792" y="27432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9672" y="2724912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he-IL">
                <a:solidFill>
                  <a:srgbClr val="1F1F1F"/>
                </a:solidFill>
                <a:latin typeface="Arial"/>
                <a:cs typeface="Arial"/>
              </a:rPr>
              <a:t>מסדרים אותן מהקטנה לגדולה</a:t>
            </a:r>
          </a:p>
        </p:txBody>
      </p:sp>
      <p:sp>
        <p:nvSpPr>
          <p:cNvPr id="9" name="Oval 8"/>
          <p:cNvSpPr/>
          <p:nvPr/>
        </p:nvSpPr>
        <p:spPr>
          <a:xfrm>
            <a:off x="10908792" y="352043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3502151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he-IL">
                <a:solidFill>
                  <a:srgbClr val="1F1F1F"/>
                </a:solidFill>
                <a:latin typeface="Arial"/>
                <a:cs typeface="Arial"/>
              </a:rPr>
              <a:t>אחוזון 3 = הערך ש-3% מהבדיקות נמצאות מתחתיו. כך גם 5, 10, 95 ו-97.5</a:t>
            </a:r>
          </a:p>
        </p:txBody>
      </p:sp>
      <p:sp>
        <p:nvSpPr>
          <p:cNvPr id="11" name="Formula"/>
          <p:cNvSpPr/>
          <p:nvPr/>
        </p:nvSpPr>
        <p:spPr>
          <a:xfrm>
            <a:off x="6519672" y="4389120"/>
            <a:ext cx="48463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4389120"/>
            <a:ext cx="4846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lang="he-IL">
                <a:solidFill>
                  <a:srgbClr val="1F1F1F"/>
                </a:solidFill>
                <a:latin typeface="Arial"/>
                <a:cs typeface="Arial"/>
              </a:rPr>
              <a:t>P3 = quantile( BPD[week] , 0.03 )</a:t>
            </a:r>
          </a:p>
        </p:txBody>
      </p:sp>
      <p:pic>
        <p:nvPicPr>
          <p:cNvPr id="13" name="Picture 12" descr="04_n_per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0"/>
            <a:ext cx="5577840" cy="22818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420624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 lang="he-IL">
                <a:solidFill>
                  <a:srgbClr val="52514E"/>
                </a:solidFill>
                <a:latin typeface="Arial"/>
                <a:cs typeface="Arial"/>
              </a:rPr>
              <a:t>מספר הבדיקות בכל שבוע. בשבועות 43 ו-44 כמעט אין נתונים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 lang="he-IL">
                <a:solidFill>
                  <a:srgbClr val="52514E"/>
                </a:solidFill>
                <a:latin typeface="Arial"/>
                <a:cs typeface="Arial"/>
              </a:rPr>
              <a:t>למה עד שבוע 42?</a:t>
            </a:r>
            <a:r>
              <a:rPr sz="1500" b="0" lang="he-IL">
                <a:solidFill>
                  <a:srgbClr val="52514E"/>
                </a:solidFill>
                <a:latin typeface="Arial"/>
                <a:cs typeface="Arial"/>
              </a:rPr>
              <a:t> בשבועות 43 ו-44 יש רק 12 בדיקות, ואי אפשר לחשב מהן אחוזון 3. בשבוע 42 יש 153 בדיקות, ולכן האחוזונים הקיצוניים שם פחות יציבים.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lang="he-IL">
                <a:solidFill>
                  <a:srgbClr val="1F3864"/>
                </a:solidFill>
                <a:latin typeface="Arial"/>
                <a:cs typeface="Arial"/>
              </a:rPr>
              <a:t>התוצאה: עקומות האחוזונים של BPD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he-IL">
                <a:solidFill>
                  <a:srgbClr val="52514E"/>
                </a:solidFill>
                <a:latin typeface="Arial"/>
                <a:cs typeface="Arial"/>
              </a:rPr>
              <a:t>כתום: אחוזונים נמוכים (חשד לעובר קטן). כחול: אחוזונים גבוהים (חשד לעובר גדול)</a:t>
            </a:r>
          </a:p>
        </p:txBody>
      </p:sp>
      <p:pic>
        <p:nvPicPr>
          <p:cNvPr id="4" name="Picture 3" descr="04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7315200" cy="3990109"/>
          </a:xfrm>
          <a:prstGeom prst="rect">
            <a:avLst/>
          </a:prstGeom>
        </p:spPr>
      </p:pic>
      <p:graphicFrame>
        <p:nvGraphicFramePr>
          <p:cNvPr id="5" name="Percentile table"/>
          <p:cNvGraphicFramePr>
            <a:graphicFrameLocks noGrp="1"/>
          </p:cNvGraphicFramePr>
          <p:nvPr/>
        </p:nvGraphicFramePr>
        <p:xfrm>
          <a:off x="7982712" y="1783080"/>
          <a:ext cx="3657600" cy="3566160"/>
        </p:xfrm>
        <a:graphic>
          <a:graphicData uri="http://schemas.openxmlformats.org/drawingml/2006/table">
            <a:tbl>
              <a:tblPr firstRow="0" bandRow="0" rtl="1">
                <a:tableStyleId>{5C22544A-7EE6-4342-B048-85BDC9FD1C3A}</a:tableStyleId>
              </a:tblPr>
              <a:tblGrid>
                <a:gridCol w="731520"/>
                <a:gridCol w="585216"/>
                <a:gridCol w="585216"/>
                <a:gridCol w="585216"/>
                <a:gridCol w="585216"/>
                <a:gridCol w="585216"/>
              </a:tblGrid>
              <a:tr h="445770"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שבוע</a:t>
                      </a:r>
                    </a:p>
                  </a:txBody>
                  <a:tcPr marL="36576" marR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36576" marR="36576" anchor="ctr">
                    <a:solidFill>
                      <a:srgbClr val="C4471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36576" marR="36576" anchor="ctr"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marL="36576" marR="36576" anchor="ctr">
                    <a:solidFill>
                      <a:srgbClr val="D982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95</a:t>
                      </a:r>
                    </a:p>
                  </a:txBody>
                  <a:tcPr marL="36576" marR="36576" anchor="ctr">
                    <a:solidFill>
                      <a:srgbClr val="4F8F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97.5</a:t>
                      </a:r>
                    </a:p>
                  </a:txBody>
                  <a:tcPr marL="36576" marR="36576" anchor="ctr">
                    <a:solidFill>
                      <a:srgbClr val="1C5CA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30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31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38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39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42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43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44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52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24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52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55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64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65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28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65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66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67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77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78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32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75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76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77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87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88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36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82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83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84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94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95</a:t>
                      </a:r>
                    </a:p>
                  </a:txBody>
                  <a:tcPr marL="36576" marR="36576" anchor="ctr">
                    <a:solidFill>
                      <a:srgbClr val="EEF2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rtl="1"/>
                      <a:r>
                        <a:rPr sz="1400" b="1" lang="he-IL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87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88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89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98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0" lang="he-IL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99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82712" y="14173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1" lang="he-IL">
                <a:solidFill>
                  <a:srgbClr val="52514E"/>
                </a:solidFill>
                <a:latin typeface="Arial"/>
                <a:cs typeface="Arial"/>
              </a:rPr>
              <a:t>אחוזונים (מ"מ), שבועות נבחרים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2712" y="54864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 lang="he-IL">
                <a:solidFill>
                  <a:srgbClr val="52514E"/>
                </a:solidFill>
                <a:latin typeface="Arial"/>
                <a:cs typeface="Arial"/>
              </a:rPr>
              <a:t>הטבלה המלאה לכל שבוע נמצאת במסמך הסיכום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lang="he-IL">
                <a:solidFill>
                  <a:srgbClr val="1F3864"/>
                </a:solidFill>
                <a:latin typeface="Arial"/>
                <a:cs typeface="Arial"/>
              </a:rPr>
              <a:t>מה למדנו: על מה צריך להיזהר בעבודה עם AI</a:t>
            </a:r>
          </a:p>
        </p:txBody>
      </p:sp>
      <p:sp>
        <p:nvSpPr>
          <p:cNvPr id="3" name="Lesson 1"/>
          <p:cNvSpPr/>
          <p:nvPr/>
        </p:nvSpPr>
        <p:spPr>
          <a:xfrm>
            <a:off x="6245352" y="137160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0232" y="1645920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3952" y="1499616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לבדוק את הנתונים לפני החישוב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3952" y="1828800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 lang="he-IL">
                <a:solidFill>
                  <a:srgbClr val="52514E"/>
                </a:solidFill>
                <a:latin typeface="Arial"/>
                <a:cs typeface="Arial"/>
              </a:rPr>
              <a:t>1.8% מהערכים נרשמו ביחידות שגויות. חישוב ישיר היה מוריד את אחוזון 3 בעד 3 מ"מ</a:t>
            </a:r>
          </a:p>
        </p:txBody>
      </p:sp>
      <p:sp>
        <p:nvSpPr>
          <p:cNvPr id="7" name="Lesson 2"/>
          <p:cNvSpPr/>
          <p:nvPr/>
        </p:nvSpPr>
        <p:spPr>
          <a:xfrm>
            <a:off x="6245352" y="2587752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00232" y="286207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715768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לוודא מה ה-AI עשה בפועל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044952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 lang="he-IL">
                <a:solidFill>
                  <a:srgbClr val="52514E"/>
                </a:solidFill>
                <a:latin typeface="Arial"/>
                <a:cs typeface="Arial"/>
              </a:rPr>
              <a:t>הוא הוסיף השוואה שלא התבקשה, וזיהה בטעות נוסחה אחרת כנוסחת Hadlock. ההשוואה הוסרה</a:t>
            </a:r>
          </a:p>
        </p:txBody>
      </p:sp>
      <p:sp>
        <p:nvSpPr>
          <p:cNvPr id="11" name="Lesson 3"/>
          <p:cNvSpPr/>
          <p:nvPr/>
        </p:nvSpPr>
        <p:spPr>
          <a:xfrm>
            <a:off x="6245352" y="3803904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00232" y="4078224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9319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שבועות עם מעט נתונים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261104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 lang="he-IL">
                <a:solidFill>
                  <a:srgbClr val="52514E"/>
                </a:solidFill>
                <a:latin typeface="Arial"/>
                <a:cs typeface="Arial"/>
              </a:rPr>
              <a:t>בשבוע 42 האחוזונים הקיצוניים נשענים על 4 עד 5 בדיקות בלבד, וה-AI לא סימן זאת מעצמו</a:t>
            </a:r>
          </a:p>
        </p:txBody>
      </p:sp>
      <p:sp>
        <p:nvSpPr>
          <p:cNvPr id="15" name="Lesson 4"/>
          <p:cNvSpPr/>
          <p:nvPr/>
        </p:nvSpPr>
        <p:spPr>
          <a:xfrm>
            <a:off x="6245352" y="5020056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00232" y="5294376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lang="he-IL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148072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lang="he-IL">
                <a:solidFill>
                  <a:srgbClr val="1F1F1F"/>
                </a:solidFill>
                <a:latin typeface="Arial"/>
                <a:cs typeface="Arial"/>
              </a:rPr>
              <a:t>מה עוד לא נבדק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5477256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 lang="he-IL">
                <a:solidFill>
                  <a:srgbClr val="52514E"/>
                </a:solidFill>
                <a:latin typeface="Arial"/>
                <a:cs typeface="Arial"/>
              </a:rPr>
              <a:t>מדידות חוזרות של אותה אישה, חלוקה לאימון ומבחן, והשפעת הטכנאי. בהמשך הקורס</a:t>
            </a:r>
          </a:p>
        </p:txBody>
      </p:sp>
      <p:pic>
        <p:nvPicPr>
          <p:cNvPr id="19" name="Picture 18" descr="04_cleaning_effect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03120"/>
            <a:ext cx="5669280" cy="23192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45720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1" lang="he-IL">
                <a:solidFill>
                  <a:srgbClr val="52514E"/>
                </a:solidFill>
                <a:latin typeface="Arial"/>
                <a:cs typeface="Arial"/>
              </a:rPr>
              <a:t>השפעת הניקוי:</a:t>
            </a:r>
            <a:r>
              <a:rPr sz="1300" b="0" lang="he-IL">
                <a:solidFill>
                  <a:srgbClr val="52514E"/>
                </a:solidFill>
                <a:latin typeface="Arial"/>
                <a:cs typeface="Arial"/>
              </a:rPr>
              <a:t> בכמה מ"מ אחוזון 3 יורד בכל שבוע אם מחשבים על הנתונים הגולמיים, בלי ניקוי.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