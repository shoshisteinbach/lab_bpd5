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מטרת המצגת: להציג את השאלה, את הדרך שבה ניתחנו את הנתונים ואת המסקנות לגבי התאמת שתי העקומות הקיימות לנתוני ה-BPD הישראליים.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המסר המרכזי. המספרים: אחוז העוברים שכל עקומה מסווגת מתחת לאחוזון ה-5 שלה, לעומת 5% שהיא מבטיחה.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הבעיה הקלינית מימין, והתרגום שלה להשערות סטטיסטיות משמאל. ההשערה היא שהשיעור בפועל שווה לשיעור הנומינלי.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מבנה המצגת: כל שלב יוצג בשקף נפרד עם הפלט שלו.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שימו לב: רוב ההריונות תורמים יותר מבדיקה אחת. זה חשוב בהמשך, כי הבדיקות של אותו עובר אינן בלתי תלויות.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את ההחלטה על כל תיקון קיבלנו לפי הפער בין הקבוצות, ואימתנו מול bpd_w, שהמכשיר חישב מהמדידה המקורית.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כללים בלתי תלויים: עקביות מול השבוע שחישב המכשיר, עקביות אנטומית מול היקף הראש, וקיצוניות ביחס לבדיקות אחרות באותו שבוע.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הנחות 4 ו-6 הן המגבלות העיקריות: מזהה ההריון משוחזר, והאחידות של שיטת המדידה לא מתועדת בנתונים.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השוואה ראשונית חזותית. החציון בנתונים קרוב לממוצע של Hadlock ורחוק מזה של Kurmanavicius.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 החשובה: התקנון לפי העקומה ולא לפי הנתונים. תקנון לפי הנתונים היה נותן ממוצע 0 וסטיית תקן 1 באופן אוטומטי, ולא היה בודק כלום.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התמונה הכוללת לפני המבחנים: Hadlock כמעט מכוילת, Kurmanavicius לא.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עמודת 'פי' היא היחס בין השיעור בפועל לנומינלי. ערך גדול מ-1 = מסווגת יותר מדי; קטן מ-1 = מסווגת מעט מדי.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בונפרוני שמרני, אבל תקף גם כשהמבחנים תלויים, וכאן הם תלויים: מי שמתחת ל-3% נמצא גם מתחת ל-5%.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המשמעות הקלינית: בכל 1,000 בדיקות, Hadlock שולחת כ-27 עוברים נוספים למעקב, ו-Kurmanavicius כ-284.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הערכים מחוץ לרווחי הסמך של הערך התקין. רווח הסמך לממוצע z של Hadlock: −0.15 עד −0.12.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הממצא החשוב ביותר להמשך: בבעיה של Hadlock לא מספיק להזיז את הממוצע, כי גם הפיזור צריך להשתנות עם השבוע.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המסקנות לפי סדר חשיבות. השלישית והרביעית מכוונות את השלב הבא של הפרויקט.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הצעדים הבאים תואמים את השלבים הבאים בתוכנית הקורס.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algn="r" indent="0" marL="0">
              <a:buNone/>
            </a:pPr>
            <a:endParaRPr lang="he-IL" sz="3000" dirty="0"/>
          </a:p>
        </p:txBody>
      </p:sp>
      <p:sp>
        <p:nvSpPr>
          <p:cNvPr id="3" name="Text 0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000" dirty="0">
                <a:solidFill>
                  <a:srgbClr val="7A8C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קבוצת BPD  |  התאמת עקומות גדילה לנתונים הישראליים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algn="r" indent="0" marL="0">
              <a:buNone/>
            </a:pPr>
            <a:endParaRPr lang="he-IL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14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algn="r" indent="0" marL="0">
              <a:buNone/>
            </a:pPr>
            <a:endParaRPr lang="he-IL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האם עקומות הגדילה הקיימות מתאימות לעוברים בישראל?</a:t>
            </a:r>
            <a:endParaRPr lang="he-IL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200" dirty="0">
                <a:solidFill>
                  <a:srgbClr val="C9DCE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בחינת קוטר הראש הדו־קודקודי (BPD) מול עקומות Hadlock ו־Kurmanavicius</a:t>
            </a:r>
            <a:endParaRPr lang="he-IL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9FB6C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קבוצת BPD  |  מעבדה סטטיסטית  |  אוקטובר 2026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השורה התחתונה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שתי העקומות אינן מכוילות לאוכלוסייה הישראלית: הן מסווגות כ"קטנים" יותר עוברים ממה שהן מבטיחות. הפער ב־Kurmanavicius דרמטי, ובהדלוק מתון אך תלוי בשבוע ההריון.</a:t>
            </a:r>
            <a:endParaRPr lang="he-IL" sz="1700" dirty="0"/>
          </a:p>
        </p:txBody>
      </p:sp>
      <p:sp>
        <p:nvSpPr>
          <p:cNvPr id="4" name="Shape 2"/>
          <p:cNvSpPr/>
          <p:nvPr/>
        </p:nvSpPr>
        <p:spPr>
          <a:xfrm>
            <a:off x="8127797" y="2057400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10677" y="2221992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44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57,170</a:t>
            </a:r>
            <a:endParaRPr lang="he-IL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310677" y="29992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בדיקות אולטרסאונד (15,178 נשים, 22,775 הריונות) לאחר ניקוי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2057400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1098" y="2221992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4400" b="1" dirty="0">
                <a:solidFill>
                  <a:srgbClr val="C2510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7.7%</a:t>
            </a:r>
            <a:endParaRPr lang="he-IL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21098" y="29992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מהעוברים מתחת לאחוזון ה־5 לפי Hadlock (במקום 5%)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21992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4400" b="1" dirty="0">
                <a:solidFill>
                  <a:srgbClr val="0B6AA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33.4%</a:t>
            </a:r>
            <a:endParaRPr lang="he-IL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992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מהעוברים מתחת לאחוזון ה־5 לפי Kurmanavicius (במקום 5%)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60520"/>
            <a:ext cx="10545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Kurmanavicius: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העקומה מוזזת כלפי מעלה בכ־1.3 סטיות תקן (כ־4 מ"מ). כשליש מהעוברים מסווגים כ"קטנים", כמעט אף אחד כ"גדול". לא שמישה כפי שהיא.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Hadlock: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קרובה יותר, אך עדיין לא מכוילת: כ־27 הפניות עודפות לכל 1,000 בדיקות בסף ה־5%. הבעיה משנה כיוון לאורך ההריון, ולכן כיול של הממוצע בלבד לא יספיק.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המשמעות: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יש צורך בעקומה ישראלית שבה גם הממוצע וגם הפיזור משתנים עם שבוע ההריון.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שאלת המחקר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6233008" y="1234440"/>
            <a:ext cx="5410048" cy="4892040"/>
          </a:xfrm>
          <a:prstGeom prst="roundRect">
            <a:avLst>
              <a:gd name="adj" fmla="val 224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07328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הבעיה הקלינית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07328" y="196596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עוברים מסווגים כחריגים בגודלם אם ה־BPD שלהם נמצא מתחת לאחוזון נמוך (3%, 5% או 10%) או מעל אחוזון גבוה (95% או 97.5%) של עקומת ייחוס.</a:t>
            </a:r>
            <a:endParaRPr lang="he-IL" sz="1600" dirty="0"/>
          </a:p>
          <a:p>
            <a:pPr rtl="1" algn="just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בפועל, נראה שעוברים תקינים רבים מדי מסווגים כחריגים ונשלחים למעקב. העקומות שבשימוש (Hadlock ו־Kurmanavicius) פותחו על אוכלוסיות אחרות.</a:t>
            </a:r>
            <a:endParaRPr lang="he-IL" sz="1600" dirty="0"/>
          </a:p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השאלה: האם העקומות האלה מתאימות לעוברים בישראל?</a:t>
            </a:r>
            <a:endParaRPr lang="he-IL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10048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5410048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הניסוח הסטטיסטי</a:t>
            </a:r>
            <a:endParaRPr lang="he-IL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לכל עקומה ולכל סף p, נסמן ב־π את שיעור העוברים באוכלוסייה הישראלית שהעקומה מסווגת מעבר לסף.</a:t>
            </a:r>
            <a:endParaRPr lang="he-I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H₀: π = p        H₁: π ≠ 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861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עקומה מתאימה = עומדת בהבטחה שלה: 5% מהעוברים מתחת לאחוזון ה־5, 2.5% מעל אחוזון ה־97.5 וכן הלאה.</a:t>
            </a:r>
            <a:endParaRPr lang="he-IL" sz="1600" dirty="0"/>
          </a:p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סה"כ 10 השערות: 5 ספים × 2 עקומות. מבחן דו־צדדי, כי גם מעט מדי חריגים הוא בעיה (החמצת עוברים חריגים באמת).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תהליך העבודה במבט על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חמישה שלבים, מהקובץ הגולמי ועד המסקנה. כל שלב נשען על הקודם, ואף כלל ניקוי לא השתמש בעקומות שנבדקו.</a:t>
            </a:r>
            <a:endParaRPr lang="he-IL" sz="1700" dirty="0"/>
          </a:p>
        </p:txBody>
      </p:sp>
      <p:sp>
        <p:nvSpPr>
          <p:cNvPr id="4" name="Shape 2"/>
          <p:cNvSpPr/>
          <p:nvPr/>
        </p:nvSpPr>
        <p:spPr>
          <a:xfrm>
            <a:off x="9607052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7582" y="2331720"/>
            <a:ext cx="694944" cy="694944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7582" y="2331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789932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ניקוי והכנה</a:t>
            </a:r>
            <a:endParaRPr lang="he-IL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89932" y="37033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יחידות מידה, כפילויות, הגבלה לשבוע 40, שגיאות רישום, שחזור מזהה הריון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9405884" y="3611880"/>
            <a:ext cx="182880" cy="274320"/>
          </a:xfrm>
          <a:prstGeom prst="leftArrow">
            <a:avLst/>
          </a:prstGeom>
          <a:solidFill>
            <a:srgbClr val="9FB6C6"/>
          </a:solidFill>
          <a:ln w="12700">
            <a:solidFill>
              <a:srgbClr val="9FB6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449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2979" y="2331720"/>
            <a:ext cx="694944" cy="694944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12979" y="2331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525329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תקנון לפי העקומה</a:t>
            </a:r>
            <a:endParaRPr lang="he-IL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25329" y="37033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בדיקה מומרת לציון z ולאחוזון לפי מה שהעקומה טוענת</a:t>
            </a:r>
            <a:endParaRPr lang="he-IL" sz="1400" dirty="0"/>
          </a:p>
        </p:txBody>
      </p:sp>
      <p:sp>
        <p:nvSpPr>
          <p:cNvPr id="15" name="Shape 13"/>
          <p:cNvSpPr/>
          <p:nvPr/>
        </p:nvSpPr>
        <p:spPr>
          <a:xfrm>
            <a:off x="7141281" y="3611880"/>
            <a:ext cx="182880" cy="274320"/>
          </a:xfrm>
          <a:prstGeom prst="leftArrow">
            <a:avLst/>
          </a:prstGeom>
          <a:solidFill>
            <a:srgbClr val="9FB6C6"/>
          </a:solidFill>
          <a:ln w="12700">
            <a:solidFill>
              <a:srgbClr val="9FB6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7846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8376" y="2331720"/>
            <a:ext cx="694944" cy="694944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48376" y="2331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60726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מבחן לכל סף</a:t>
            </a:r>
            <a:endParaRPr lang="he-IL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60726" y="37033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האם שיעור העוברים שסווגו כחריגים שווה לשיעור הנומינלי?</a:t>
            </a:r>
            <a:endParaRPr lang="he-IL" sz="1400" dirty="0"/>
          </a:p>
        </p:txBody>
      </p:sp>
      <p:sp>
        <p:nvSpPr>
          <p:cNvPr id="21" name="Shape 19"/>
          <p:cNvSpPr/>
          <p:nvPr/>
        </p:nvSpPr>
        <p:spPr>
          <a:xfrm>
            <a:off x="4876678" y="3611880"/>
            <a:ext cx="182880" cy="274320"/>
          </a:xfrm>
          <a:prstGeom prst="leftArrow">
            <a:avLst/>
          </a:prstGeom>
          <a:solidFill>
            <a:srgbClr val="9FB6C6"/>
          </a:solidFill>
          <a:ln w="12700">
            <a:solidFill>
              <a:srgbClr val="9FB6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13243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773" y="2331720"/>
            <a:ext cx="694944" cy="694944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83773" y="2331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996123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תיקונים</a:t>
            </a:r>
            <a:endParaRPr lang="he-IL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996123" y="37033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תלות בין בדיקות של אותו הריון (bootstrap) ו־10 מבחנים (בונפרוני)</a:t>
            </a:r>
            <a:endParaRPr lang="he-IL" sz="1400" dirty="0"/>
          </a:p>
        </p:txBody>
      </p:sp>
      <p:sp>
        <p:nvSpPr>
          <p:cNvPr id="27" name="Shape 25"/>
          <p:cNvSpPr/>
          <p:nvPr/>
        </p:nvSpPr>
        <p:spPr>
          <a:xfrm>
            <a:off x="2612075" y="3611880"/>
            <a:ext cx="182880" cy="274320"/>
          </a:xfrm>
          <a:prstGeom prst="leftArrow">
            <a:avLst/>
          </a:prstGeom>
          <a:solidFill>
            <a:srgbClr val="9FB6C6"/>
          </a:solidFill>
          <a:ln w="12700">
            <a:solidFill>
              <a:srgbClr val="9FB6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19170" y="2331720"/>
            <a:ext cx="694944" cy="694944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19170" y="23317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אבחון</a:t>
            </a:r>
            <a:endParaRPr lang="he-IL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7033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גודל הפער, הזזה או פיזור, ופירוק לפי שבוע הריון</a:t>
            </a:r>
            <a:endParaRPr lang="he-IL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הפלטים (טבלאות וגרפים) הופקו בסקריפט R אחד שמריץ את כל התהליך מקריאת הנתונים.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הנתונים: מ־61,999 שורות ל־57,170 בדיקות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שלב סינון מתועד. הירידה העיקרית היא בדיקות אחרי שבוע 40, לפי דרישת המטלה. שגיאות רישום הן פחות מ־0.3% מהבדיקות.</a:t>
            </a:r>
            <a:endParaRPr lang="he-IL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22415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560320"/>
              </a:tblGrid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הוסרו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בדיקות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שלב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–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61,999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קובץ גולמי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29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61,970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הסרת כפילויות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4,644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57,326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הגבלה לשבוע ≤ 40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57,324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BPD חסר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154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57,170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הסרת שגיאות רישום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095" y="4526280"/>
            <a:ext cx="1584960" cy="1280160"/>
          </a:xfrm>
          <a:prstGeom prst="roundRect">
            <a:avLst>
              <a:gd name="adj" fmla="val 8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095" y="4617720"/>
            <a:ext cx="158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15,178</a:t>
            </a:r>
            <a:endParaRPr lang="he-IL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0149535" y="5230368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נשים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8290255" y="4526280"/>
            <a:ext cx="1584960" cy="1280160"/>
          </a:xfrm>
          <a:prstGeom prst="roundRect">
            <a:avLst>
              <a:gd name="adj" fmla="val 8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90255" y="4617720"/>
            <a:ext cx="158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22,775</a:t>
            </a:r>
            <a:endParaRPr lang="he-IL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381695" y="5230368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הריונות</a:t>
            </a:r>
            <a:endParaRPr lang="he-IL" sz="1300" dirty="0"/>
          </a:p>
        </p:txBody>
      </p:sp>
      <p:sp>
        <p:nvSpPr>
          <p:cNvPr id="11" name="Shape 8"/>
          <p:cNvSpPr/>
          <p:nvPr/>
        </p:nvSpPr>
        <p:spPr>
          <a:xfrm>
            <a:off x="6522415" y="4526280"/>
            <a:ext cx="1584960" cy="1280160"/>
          </a:xfrm>
          <a:prstGeom prst="roundRect">
            <a:avLst>
              <a:gd name="adj" fmla="val 8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22415" y="4617720"/>
            <a:ext cx="158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2.5</a:t>
            </a:r>
            <a:endParaRPr lang="he-IL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613855" y="5230368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בדיקות להריון (ממוצע)</a:t>
            </a:r>
            <a:endParaRPr lang="he-IL" sz="1300" dirty="0"/>
          </a:p>
        </p:txBody>
      </p:sp>
      <p:pic>
        <p:nvPicPr>
          <p:cNvPr id="14" name="Image 0" descr="/tmp/claude-0/-home-claude/993b78f8-63b9-5073-982b-988ce2afe622/scratchpad/deck/img/03_ga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2264"/>
            <a:ext cx="5760720" cy="34564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" y="5806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רוב הבדיקות מתרכזות סביב שבועות 21–22 ו־30–38 (הסקירות השגרתיות). 36% מההריונות עם בדיקה אחת, 64% עם שתיים ומעלה.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תיקון יחידות מידה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1_bpd_raw_un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5064"/>
            <a:ext cx="6675120" cy="4005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98080" y="1234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 רואים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64592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ערכי ה־BPD הגולמיים (בסקאלה לוגריתמית) יוצרים ארבעה "פסים" נפרדים: אותה עקומת גדילה, בהכפלה של פי 10 או פי 100. בין הפסים אין ערכי ביניים, ולכן ההפרדה חד־משמעית.</a:t>
            </a:r>
            <a:endParaRPr lang="he-IL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108960"/>
          <a:ext cx="414497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56255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בדיקות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תיקון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815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נרשם בס"מ (×10)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222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נקודה עשרונית חסרה (÷10)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</a:t>
                      </a:r>
                      <a:endParaRPr lang="en-US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4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ערך חריג (÷100)</a:t>
                      </a:r>
                      <a:endParaRPr lang="he-IL" sz="14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98080" y="4709160"/>
            <a:ext cx="4144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אימות: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התאמה בין ה־BPD לשבוע שהמכשיר חישב ממנו (bpd_w) עלתה מ־97.7% ל־99.4%.</a:t>
            </a:r>
            <a:endParaRPr lang="he-IL" sz="1600" dirty="0"/>
          </a:p>
          <a:p>
            <a:pPr rtl="1" algn="just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ריכוז בזמן: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רישום בס"מ מרוכז ב־2000–2001, כנראה מכשיר או נוהל ישן.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ניקוי שגיאות רישום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2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5064"/>
            <a:ext cx="6675120" cy="4005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98080" y="1234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העיקרון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645920"/>
            <a:ext cx="4144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מסירים רק ערכים בלתי אפשריים, ולעולם לא לפי העקומות שנבדקות. ניקוי לפי העקומה היה מקצץ בדיוק את הזנבות שאנחנו מודדים.</a:t>
            </a:r>
            <a:endParaRPr lang="he-IL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971800"/>
          <a:ext cx="414497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19095"/>
              </a:tblGrid>
              <a:tr h="43891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הוסרו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כלל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135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פער &gt; 8 מ"מ מה־BPD ש־bpd_w מרמז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יחס BPD להיקף ראש מחוץ ל־0.22–0.35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65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חריג קיצוני בתוך השבוע (&gt; 5 MAD)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154 (0.27%)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לפחות כלל אחד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98080" y="512064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בגרף: הנקודות הצבעוניות הוסרו. רובן רחוקות בבירור מהענן, ומעטות בתוכו נפסלו בגלל חוסר עקביות עם מדד אחר.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הנחות היסוד של הניתוח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6233008" y="132588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7255" y="155448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5725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07328" y="157276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נורמליות בכל שבוע</a:t>
            </a:r>
            <a:endParaRPr lang="he-IL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07328" y="201168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זו הטענה של העקומות עצמן (ממוצע וסטיית תקן לכל שבוע). אנחנו בודקים אותה, לא מניחים אותה.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2888" y="155448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7288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57276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גיל הריון מדויק</a:t>
            </a:r>
            <a:endParaRPr lang="he-I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01168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לפי תאריך הלידה המשוער. לא השתמשנו ב־bpd_w, כי הוא נגזר מה־BPD עצמו (מעגליות).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288036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7255" y="310896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57255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312724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נוסחאות העקומות</a:t>
            </a:r>
            <a:endParaRPr lang="he-IL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56616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כפי שנמסרו בחומרי הקורס. Hadlock המירה מס"מ למ"מ; סטיית תקן קבועה של 3 מ"מ.</a:t>
            </a:r>
            <a:endParaRPr lang="he-IL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2888" y="310896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7288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12724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זיהוי הריון</a:t>
            </a:r>
            <a:endParaRPr lang="he-IL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56616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אין מזהה הריון בקובץ. הריון = אותה אם + תאריך לידה משוער בהפרש של עד 100 יום.</a:t>
            </a: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43484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57255" y="466344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57255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07328" y="468172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תלות</a:t>
            </a:r>
            <a:endParaRPr lang="he-IL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07328" y="512064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הריונות שונים בלתי תלויים; בדיקות של אותו הריון תלויות, וזה מטופל ב־bootstrap לפי הריון.</a:t>
            </a:r>
            <a:endParaRPr lang="he-IL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10048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72888" y="4663440"/>
            <a:ext cx="457200" cy="457200"/>
          </a:xfrm>
          <a:prstGeom prst="ellipse">
            <a:avLst/>
          </a:prstGeom>
          <a:solidFill>
            <a:srgbClr val="14303F"/>
          </a:solidFill>
          <a:ln w="12700">
            <a:solidFill>
              <a:srgbClr val="14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72888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681728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ייצוגיות</a:t>
            </a:r>
            <a:endParaRPr lang="he-IL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120640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המדגם מייצג את הנבדקות בישראל, ושיטת המדידה של ה־BPD אחידה לאורך השנים.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העקומות הקיימות מול הנתונים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4_data_vs_reference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5064"/>
            <a:ext cx="6675120" cy="4005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98080" y="1234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 רואים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64592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ענן הנקודות האפור הוא הנתונים הישראליים. הקו הכחול (Kurmanavicius) עובר מעל מרכז הענן לאורך כל ההריון; הקו הכתום (Hadlock) קרוב אליו בהרבה.</a:t>
            </a:r>
            <a:endParaRPr lang="he-IL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154680"/>
          <a:ext cx="4144975" cy="914400"/>
        </p:xfrm>
        <a:graphic>
          <a:graphicData uri="http://schemas.openxmlformats.org/drawingml/2006/table">
            <a:tbl>
              <a:tblPr/>
              <a:tblGrid>
                <a:gridCol w="1310335"/>
                <a:gridCol w="1005840"/>
                <a:gridCol w="1005840"/>
                <a:gridCol w="82296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חציון בנתונים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שבוע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33.0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36.2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32.3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16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58.0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63.4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59.2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80.9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84.7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80.4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93.0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98.1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94.2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40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98080" y="5120640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ממוצע BPD במ"מ. ההפרש בין העקומות (כ־4 מ"מ) גדול מסטיית תקן שלמה, כך שלא ייתכן ששתיהן מתאימות.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השיטה: מכל בדיקה לאחוזון לפי העקומה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שבוע הוא התפלגות אחרת, ולכן ממירים כל בדיקה לסקאלה אחידה, לפי מה שהעקומה טוענת על אותו שבוע. אם העקומה נכונה, התוצאות מכל השבועות מתפלגות באותו אופן ואפשר לאחד אותן.</a:t>
            </a:r>
            <a:endParaRPr lang="he-IL" sz="1700" dirty="0"/>
          </a:p>
        </p:txBody>
      </p:sp>
      <p:sp>
        <p:nvSpPr>
          <p:cNvPr id="4" name="Shape 2"/>
          <p:cNvSpPr/>
          <p:nvPr/>
        </p:nvSpPr>
        <p:spPr>
          <a:xfrm>
            <a:off x="8127797" y="21488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02117" y="23317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1. ציון תקן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10677" y="278892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z = (BPD − Mean(w)) / SD(w)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02117" y="34290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הממוצע וסטיית התקן של העקומה בשבוע w, לא של הנתונים. אם העקומה נכונה: z ~ N(0,1).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21488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3317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2. אחוזון</a:t>
            </a:r>
            <a:endParaRPr lang="he-IL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278892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 = Φ(z)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4290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המיקום של העובר לפי העקומה. אם העקומה נכונה: u מתפלג אחיד על [0,1].</a:t>
            </a:r>
            <a:endParaRPr lang="he-IL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3317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3. אינדיקטור</a:t>
            </a:r>
            <a:endParaRPr lang="he-IL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78892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1{u &lt; p}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2900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האם העקומה מסווגת את העובר כחריג בסף p. השיעור שלו צריך להיות בדיוק p.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46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דוגמה: עובר בשבוע 22 עם BPD של 52 מ"מ. אותו עובר, שתי החלטות קליניות שונות</a:t>
            </a:r>
            <a:endParaRPr lang="he-IL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30368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0B6AA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לפי Kurmanavicius: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z ≈ −1.64, כלומר אחוזון 5. העובר מסווג כחריג.</a:t>
            </a:r>
            <a:endParaRPr lang="he-IL" sz="15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C2510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לפי Hadlock: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z ≈ −0.30, כלומר אחוזון 38. העובר תקין לגמרי.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מבחן חזותי: האם האחוזונים מתפלגים אחיד?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אם עקומה מתאימה, כל אחוזון מופיע באותה תדירות וההיסטוגרמה שטוחה, בגובה הקו המקווקו. כל עמודה כאן מכסה 2.5 אחוזונים.</a:t>
            </a:r>
            <a:endParaRPr lang="he-IL" sz="1700" dirty="0"/>
          </a:p>
        </p:txBody>
      </p:sp>
      <p:pic>
        <p:nvPicPr>
          <p:cNvPr id="4" name="Image 0" descr="/tmp/claude-0/-home-claude/993b78f8-63b9-5073-982b-988ce2afe622/scratchpad/deck/img/05_percentile_histo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532" y="1783080"/>
            <a:ext cx="7342632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57800"/>
            <a:ext cx="5410048" cy="868680"/>
          </a:xfrm>
          <a:prstGeom prst="roundRect">
            <a:avLst>
              <a:gd name="adj" fmla="val 1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30952"/>
            <a:ext cx="504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C2510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Hadlock: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כמעט שטוחה, עם עודף ברור בעמודה הראשונה, כלומר יותר מדי עוברים באחוזונים הנמוכים ביותר.</a:t>
            </a:r>
            <a:endParaRPr lang="he-IL" sz="1400" dirty="0"/>
          </a:p>
        </p:txBody>
      </p:sp>
      <p:sp>
        <p:nvSpPr>
          <p:cNvPr id="7" name="Shape 4"/>
          <p:cNvSpPr/>
          <p:nvPr/>
        </p:nvSpPr>
        <p:spPr>
          <a:xfrm>
            <a:off x="6233008" y="5257800"/>
            <a:ext cx="5410048" cy="868680"/>
          </a:xfrm>
          <a:prstGeom prst="roundRect">
            <a:avLst>
              <a:gd name="adj" fmla="val 1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15888" y="5330952"/>
            <a:ext cx="504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rgbClr val="0B6AA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Kurmanavicius: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רחוקה מאוד משטוחה. רוב העוברים מתרכזים מתחת לאחוזון ה־20; כמעט אין עוברים מעל אחוזון 80.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תוצאות המבחנים לכל סף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השיעור בפועל של עוברים שסווגו כחריגים, לעומת השיעור הנומינלי. רווח סמך 95% מ־bootstrap לפי הריון; p מתוקן בבונפרוני (×10).</a:t>
            </a:r>
            <a:endParaRPr lang="he-IL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1600200"/>
                <a:gridCol w="822960"/>
                <a:gridCol w="1783080"/>
                <a:gridCol w="1143000"/>
                <a:gridCol w="1051560"/>
                <a:gridCol w="14630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H₀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 (בונפרוני)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פי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רווח סמך 95%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בפועל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נומינלי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סף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עקומה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&lt; 10⁻⁷⁰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1.79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5.11–5.63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5.37%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ל־3%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C2510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&lt; 10⁻⁶⁷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1.54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7.38–7.97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7.68%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C2510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&lt; 10⁻⁵²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1.31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12.73–13.50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13.11%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10%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ל־10%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C2510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&lt; 10⁻¹³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0.82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3.87–4.31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4.10%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מעל 95%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C2510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2E7D4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לא 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0.51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0.93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2.17–2.50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2.33%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2.5%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מעל 97.5%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C2510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≈ 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8.22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24.18–25.13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24.65%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ל־3%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0B6AA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Kurmanavicius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≈ 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6.68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32.90–33.95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33.42%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0B6AA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Kurmanavicius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≈ 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5.02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49.64–50.85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50.24%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10%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מתחת ל־10%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0B6AA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Kurmanavicius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≈ 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0.03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0.12–0.19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0.15%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מעל 95%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0B6AA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Kurmanavicius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A33A1A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נדחית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≈ 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0.03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0.06–0.11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0.09%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2.5%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מעל 97.5%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0B6AA8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Kurmanavicius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H₀ נדחית ב־9 מתוך 10 המבחנים. החריג היחיד: Hadlock בסף 97.5%, שבו הפער זניח (בתוך ±1 נקודת אחוז, לפי מבחן שקילות).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שני תיקונים שהופכים את המבחן לאמין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6233008" y="1280160"/>
            <a:ext cx="5410048" cy="4846320"/>
          </a:xfrm>
          <a:prstGeom prst="roundRect">
            <a:avLst>
              <a:gd name="adj" fmla="val 226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10048" cy="4846320"/>
          </a:xfrm>
          <a:prstGeom prst="roundRect">
            <a:avLst>
              <a:gd name="adj" fmla="val 226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07328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9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1. תלות בין בדיקות: bootstrap לפי הריון</a:t>
            </a:r>
            <a:endParaRPr lang="he-IL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507328" y="196596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הבעיה: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עובר קטן בשבוע 22 יהיה כנראה קטן גם בשבוע 32. המבחן הרגיל מניח 57 אלף תצפיות בלתי תלויות ולכן בטוח בעצמו יותר מדי.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הפתרון: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דוגמים מחדש, עם החזרה, הריונות שלמים עם כל הבדיקות שלהם, 1,000 פעמים. פיזור התוצאות הוא שגיאת התקן האמיתית.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התוצאה: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השונות האמיתית גדולה פי 1.8–2.2 מהמבחן הרגיל (design effect) ברוב הספים.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07328" y="5120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ניתוח רגישות: בדיקה אחת אקראית מכל הריון (200 הגרלות) נותנת את אותה מסקנה בכל הספים.</a:t>
            </a:r>
            <a:endParaRPr lang="he-IL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9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2. ריבוי מבחנים: תיקון בונפרוני</a:t>
            </a:r>
            <a:endParaRPr lang="he-IL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הבעיה: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עם 10 מבחנים ברמה 5% כל אחד, הסיכוי לפחות לדחייה שגויה אחת מגיע לכ־40%.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הפתרון: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מבחן נבדק ברמה 0.05/10 = 0.005 (שקול: מכפילים כל p ב־10). כך הסיכוי לטעות אחת לפחות בכל המשפחה נשאר ≤ 5%, גם כשהמבחנים תלויים.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ההשפעה: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רק במבחן אחד: Hadlock בסף 97.5% (p לא מתוקן ≈ 0.05, מתוקן 0.51), שאינו נדחה.</a:t>
            </a:r>
            <a:endParaRPr lang="he-I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FWER ≤ m · (α/m) = α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גודל הפער: מה זה אומר בפועל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8_summary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5064"/>
            <a:ext cx="6675120" cy="4005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98080" y="1234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למה לא מספיק p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64592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עם 57 אלף בדיקות, גם פער זניח יוצא מובהק. לכן השאלה החשובה היא כמה גדול הפער, ולא רק אם הוא קיים.</a:t>
            </a:r>
            <a:endParaRPr lang="he-IL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697480"/>
            <a:ext cx="4144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בגרף: היחס בין השיעור בפועל לנומינלי, עם רווח סמך. הקו המקווקו (1) הוא התאמה מושלמת.</a:t>
            </a:r>
            <a:endParaRPr lang="he-IL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611880"/>
          <a:ext cx="4144975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204185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בסף 5%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+284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+27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הפניות עודפות ל־1,000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−49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−9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"גדולים" חסרים ל־1,000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33.6%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11.8%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סה"כ מסווגים כחריגים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498080" y="544068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השורה האחרונה: מתחת ל־5% או מעל 95%, לעומת 10% נומינליים.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אבחון: הזזה, פיזור או צורה?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6_qq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091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QQ-plot של z מול התפלגות נורמלית סטנדרטית. אם העקומה נכונה, הנקודות על הקו המקווקו. הזזה אנכית = ממוצע שגוי; שיפוע שונה = פיזור שגוי; עיקום = צורה לא נורמלית.</a:t>
            </a:r>
            <a:endParaRPr lang="he-IL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685800"/>
                <a:gridCol w="153893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Kurman.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Hadlock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תקין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מדד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−1.31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−0.14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ממוצע z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0.92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1.06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סטיית תקן z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−0.20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−0.15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אסימטריה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0.81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0.68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0</a:t>
                      </a:r>
                      <a:endParaRPr lang="en-US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1E2B33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גבנוניות עודפת</a:t>
                      </a:r>
                      <a:endParaRPr lang="he-IL" sz="13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98080" y="3429000"/>
            <a:ext cx="414497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Kurmanavicius: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הבעיה העיקרית היא הזזה: העקומה גבוהה מהנתונים ב־1.3 סטיות תקן. הפיזור שלה דווקא צר מעט מדי.</a:t>
            </a:r>
            <a:endParaRPr lang="he-IL" sz="1600" dirty="0"/>
          </a:p>
          <a:p>
            <a:pPr rtl="1" algn="just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Hadlock: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הזזה קטנה ופיזור כמעט נכון בממוצע. אבל הממוצע הכולל מסתיר הבדלים בין שבועות (השקף הבא).</a:t>
            </a:r>
            <a:endParaRPr lang="he-IL" sz="1600" dirty="0"/>
          </a:p>
          <a:p>
            <a:pPr rtl="1" algn="just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שתיהן: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זנבות מעט כבדים מנורמלי (גבנוניות חיובית).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פירוק לפי שבוע הריון</a:t>
            </a:r>
            <a:endParaRPr lang="he-IL" sz="3000" dirty="0"/>
          </a:p>
        </p:txBody>
      </p:sp>
      <p:pic>
        <p:nvPicPr>
          <p:cNvPr id="3" name="Image 0" descr="/tmp/claude-0/-home-claude/993b78f8-63b9-5073-982b-988ce2afe622/scratchpad/deck/img/07_calibration_by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3391"/>
            <a:ext cx="6949440" cy="50541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123444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8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 רואים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726680" y="1645920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ארבעה מדדים לכל שבוע. הקו המקווקו הוא הערך התקין; הרצועה האפורה היא רעש אקראי צפוי.</a:t>
            </a:r>
            <a:endParaRPr lang="he-IL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423160"/>
            <a:ext cx="39163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Hadlock משנה כיוון: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בשבועות 14–20 מסווגת מעט מדי "קטנים" (1%–4%), סביב 22–25 ובסוף ההריון הרבה מדי (10%–15%).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סטיית התקן הקבועה שגויה: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sd(z) עולה מ־0.76 בשבוע 14 ל־1.16 בשבוע 35. בתחילת ההריון העקומה רחבה מדי, ובסופו צרה מדי.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Kurmanavicius: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מסווגת 24%–55% כ"קטנים" בכל שבוע, עם שיא בשבועות 22–24.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562356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4F606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83 מתוך 104 מבחנים שבועיים מובהקים אחרי בונפרוני.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מסקנות</a:t>
            </a:r>
            <a:endParaRPr lang="he-IL" sz="3600" dirty="0"/>
          </a:p>
        </p:txBody>
      </p:sp>
      <p:sp>
        <p:nvSpPr>
          <p:cNvPr id="3" name="Shape 1"/>
          <p:cNvSpPr/>
          <p:nvPr/>
        </p:nvSpPr>
        <p:spPr>
          <a:xfrm>
            <a:off x="6233008" y="1463040"/>
            <a:ext cx="5410048" cy="2331720"/>
          </a:xfrm>
          <a:prstGeom prst="roundRect">
            <a:avLst>
              <a:gd name="adj" fmla="val 4706"/>
            </a:avLst>
          </a:prstGeom>
          <a:solidFill>
            <a:srgbClr val="1F4357"/>
          </a:solidFill>
          <a:ln w="12700">
            <a:solidFill>
              <a:srgbClr val="1F43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173736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0095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53048" y="17373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1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שתי העקומות לא מתאימות לנתונים הישראליים</a:t>
            </a:r>
            <a:endParaRPr lang="he-IL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553048" y="2423160"/>
            <a:ext cx="4084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D7E4E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H₀ נדחית ב־9 מתוך 10 המבחנים, גם אחרי תיקון לתלות בין בדיקות ולריבוי מבחנים.</a:t>
            </a:r>
            <a:endParaRPr lang="he-IL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10048" cy="2331720"/>
          </a:xfrm>
          <a:prstGeom prst="roundRect">
            <a:avLst>
              <a:gd name="adj" fmla="val 4706"/>
            </a:avLst>
          </a:prstGeom>
          <a:solidFill>
            <a:srgbClr val="1F4357"/>
          </a:solidFill>
          <a:ln w="12700">
            <a:solidFill>
              <a:srgbClr val="1F43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35728" y="173736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3572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7373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1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Kurmanavicius אינה שמישה כפי שהיא</a:t>
            </a:r>
            <a:endParaRPr lang="he-IL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423160"/>
            <a:ext cx="4084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D7E4E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הזזה של כ־4 מ"מ: שליש מהעוברים מסווגים כקטנים, פי 6.7 מהמובטח. ייתכן שמקורה בשיטת מדידה שונה של ה־BPD.</a:t>
            </a:r>
            <a:endParaRPr lang="he-IL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069080"/>
            <a:ext cx="5410048" cy="2331720"/>
          </a:xfrm>
          <a:prstGeom prst="roundRect">
            <a:avLst>
              <a:gd name="adj" fmla="val 4706"/>
            </a:avLst>
          </a:prstGeom>
          <a:solidFill>
            <a:srgbClr val="1F4357"/>
          </a:solidFill>
          <a:ln w="12700">
            <a:solidFill>
              <a:srgbClr val="1F43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20095" y="434340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820095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43434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1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Hadlock סבירה בממוצע, לא מכוילת בפירוט</a:t>
            </a:r>
            <a:endParaRPr lang="he-IL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5029200"/>
            <a:ext cx="4084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D7E4E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כ־27 הפניות עודפות לכל 1,000 בדיקות, והטעות משנה כיוון בין שבועות. סטיית התקן הקבועה שלה לא מתאימה.</a:t>
            </a:r>
            <a:endParaRPr lang="he-IL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410048" cy="2331720"/>
          </a:xfrm>
          <a:prstGeom prst="roundRect">
            <a:avLst>
              <a:gd name="adj" fmla="val 4706"/>
            </a:avLst>
          </a:prstGeom>
          <a:solidFill>
            <a:srgbClr val="1F4357"/>
          </a:solidFill>
          <a:ln w="12700">
            <a:solidFill>
              <a:srgbClr val="1F43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5728" y="434340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572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3434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1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ההשלכה: נדרשת עקומה ישראלית</a:t>
            </a:r>
            <a:endParaRPr lang="he-IL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029200"/>
            <a:ext cx="4084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D7E4EC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כיול מחדש של הממוצע בלבד לא יספיק. צריך מודל שבו הממוצע והפיזור משתנים עם השבוע, כמו רגרסיית אחוזונים או שיטה לא־פרמטרית.</a:t>
            </a:r>
            <a:endParaRPr lang="he-IL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מגבלות והצעדים הבאים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6233008" y="1280160"/>
            <a:ext cx="5410048" cy="4846320"/>
          </a:xfrm>
          <a:prstGeom prst="roundRect">
            <a:avLst>
              <a:gd name="adj" fmla="val 226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10048" cy="4846320"/>
          </a:xfrm>
          <a:prstGeom prst="roundRect">
            <a:avLst>
              <a:gd name="adj" fmla="val 226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07328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מגבלות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07328" y="1965960"/>
            <a:ext cx="45870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מזהה הריון משוחזר: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תאומים נספרים כהריון אחד; טעות במזהה האם לא ניתנת לגילוי.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ספי הניקוי: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החלטה מקצועית. הם מסירים 0.27% מהבדיקות, ולא נבחרו לפי העקומות.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שיטת המדידה: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לא מתועד אם ה־BPD נמדד מקצה חיצוני לחיצוני או לפנימי. זה עשוי להסביר חלק מפער ה־Kurmanavicius.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תקופת הנתונים: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2000–2010. מכשירים ונהלים השתנו מאז.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63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2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הצעדים הבאים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45870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לבדוק את שיטת המדידה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במאמרים של Kurmanavicius ו־Hadlock ובנוהל המקומי.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לטפל בהטיית הדגימה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של מדידות חוזרות (עוברים חריגים נבדקים יותר).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לבנות עקומה ישראלית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שבה הממוצע והפיזור משתנים עם השבוע, ולבחון אותה באותה מסגרת מבחנים.</a:t>
            </a:r>
            <a:endParaRPr lang="he-IL" sz="1600" dirty="0"/>
          </a:p>
          <a:p>
            <a:pPr rtl="1" algn="just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להעריך מחדש </a:t>
            </a:r>
            <a:pPr rtl="1" algn="just" indent="0" marL="0">
              <a:spcAft>
                <a:spcPts val="400"/>
              </a:spcAft>
              <a:buNone/>
            </a:pPr>
            <a:r>
              <a:rPr lang="he-IL" altLang="en-US" sz="1600" dirty="0">
                <a:solidFill>
                  <a:srgbClr val="1E2B33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את שיעורי ההפניה הצפויים עם העקומה החדשה.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PD Growth Curves">
  <a:themeElements>
    <a:clrScheme name="BPD Growth Curves">
      <a:dk1>
        <a:srgbClr val="14303F"/>
      </a:dk1>
      <a:lt1>
        <a:srgbClr val="FFFFFF"/>
      </a:lt1>
      <a:dk2>
        <a:srgbClr val="3E5363"/>
      </a:dk2>
      <a:lt2>
        <a:srgbClr val="EEF3F6"/>
      </a:lt2>
      <a:accent1>
        <a:srgbClr val="0B6AA8"/>
      </a:accent1>
      <a:accent2>
        <a:srgbClr val="C2510F"/>
      </a:accent2>
      <a:accent3>
        <a:srgbClr val="2E8B57"/>
      </a:accent3>
      <a:accent4>
        <a:srgbClr val="7A8C99"/>
      </a:accent4>
      <a:accent5>
        <a:srgbClr val="5B7FA6"/>
      </a:accent5>
      <a:accent6>
        <a:srgbClr val="B8862E"/>
      </a:accent6>
      <a:hlink>
        <a:srgbClr val="0B6AA8"/>
      </a:hlink>
      <a:folHlink>
        <a:srgbClr val="5B7FA6"/>
      </a:folHlink>
    </a:clrScheme>
    <a:fontScheme name="BPD Growth Curves">
      <a:majorFont>
        <a:latin typeface="Assistant"/>
        <a:ea typeface=""/>
        <a:cs typeface="Assistan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ssistant"/>
        <a:ea typeface=""/>
        <a:cs typeface="Assistan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התאמת עקומות BPD לאוכלוסייה הישראלית</dc:title>
  <dc:subject>PptxGenJS Presentation</dc:subject>
  <dc:creator>קבוצת BPD</dc:creator>
  <cp:lastModifiedBy>קבוצת BPD</cp:lastModifiedBy>
  <cp:revision>1</cp:revision>
  <dcterms:created xsi:type="dcterms:W3CDTF">2026-10-26T17:31:01Z</dcterms:created>
  <dcterms:modified xsi:type="dcterms:W3CDTF">2026-10-26T17:31:01Z</dcterms:modified>
</cp:coreProperties>
</file>